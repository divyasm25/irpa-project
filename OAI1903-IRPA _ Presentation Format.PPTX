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80" r:id="rId2"/>
    <p:sldId id="366" r:id="rId3"/>
    <p:sldId id="380" r:id="rId4"/>
    <p:sldId id="383" r:id="rId5"/>
    <p:sldId id="385" r:id="rId6"/>
    <p:sldId id="386" r:id="rId7"/>
    <p:sldId id="387" r:id="rId8"/>
    <p:sldId id="388" r:id="rId9"/>
    <p:sldId id="400" r:id="rId10"/>
    <p:sldId id="401" r:id="rId11"/>
    <p:sldId id="389" r:id="rId12"/>
    <p:sldId id="402" r:id="rId13"/>
    <p:sldId id="391" r:id="rId14"/>
    <p:sldId id="403" r:id="rId15"/>
    <p:sldId id="407" r:id="rId16"/>
    <p:sldId id="404" r:id="rId17"/>
    <p:sldId id="405" r:id="rId18"/>
    <p:sldId id="408" r:id="rId19"/>
    <p:sldId id="393" r:id="rId20"/>
    <p:sldId id="394" r:id="rId21"/>
    <p:sldId id="395" r:id="rId22"/>
    <p:sldId id="28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AAAD"/>
    <a:srgbClr val="4C0EA5"/>
    <a:srgbClr val="E40524"/>
    <a:srgbClr val="008000"/>
    <a:srgbClr val="385D8A"/>
    <a:srgbClr val="34495E"/>
    <a:srgbClr val="FDFDFD"/>
    <a:srgbClr val="EAEAEA"/>
    <a:srgbClr val="F8F8F8"/>
    <a:srgbClr val="FF67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364" autoAdjust="0"/>
  </p:normalViewPr>
  <p:slideViewPr>
    <p:cSldViewPr>
      <p:cViewPr varScale="1">
        <p:scale>
          <a:sx n="78" d="100"/>
          <a:sy n="78" d="100"/>
        </p:scale>
        <p:origin x="169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938E8-608A-40B0-FA33-1BFB7DE30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DC788-4F08-C0EF-4A2D-69A59A694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883C8-F52F-D05B-9393-0635F2111B2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BD56A9-70BB-F82C-BB1B-F24A0DE1549B}"/>
              </a:ext>
            </a:extLst>
          </p:cNvPr>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946474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BBEF-2DB1-B650-683F-BBD58EEB5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DB841-F303-A79E-0F58-C79726A1E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4FCA2-3FA3-44D1-874F-33AFBB68EFD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0E6535A-4594-0B15-7F20-2AA0FBD4D61B}"/>
              </a:ext>
            </a:extLst>
          </p:cNvPr>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2557697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9DCD6-7306-2BA2-01D0-4B76D59EC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ABFF5-6DF1-AB57-C422-DBD2559E3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7E98F-C779-B18E-57C5-8D6E0DA6500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FCC564-C7A1-871F-9DEB-B600ED1B7ADB}"/>
              </a:ext>
            </a:extLst>
          </p:cNvPr>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79190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0E4A2-21AE-83A3-CE0D-BCE970D3D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6EA0F-AD8E-A72C-24B2-B611BBFA0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F3FCB-AF2A-D0BB-DF6F-95AEC99C4AD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8AC2865-77EF-5BC9-E5B9-CF5924226F3E}"/>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391176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E63C6-407F-405F-8B57-A038D7F22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FFCF5-47CD-2861-135A-BFFE886C2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178E1-F9D2-3B35-CD01-3F38408DBF3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F14F5D7-5C84-4A5D-5E47-3A2C8A339111}"/>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322049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hyperlink" Target="https://docs.uipath.com/" TargetMode="External"/><Relationship Id="rId5" Type="http://schemas.openxmlformats.org/officeDocument/2006/relationships/hyperlink" Target="https://datafinity.co.za/wp-content/uploads/2021/02/RPA-for-HR_Creating-a-More-Human-Workplace.pdf" TargetMode="External"/><Relationship Id="rId4" Type="http://schemas.openxmlformats.org/officeDocument/2006/relationships/hyperlink" Target="https://sciendo.com/pdf/10.2478/picbe-2024-0275"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4322209" cy="1631216"/>
            </a:xfrm>
            <a:prstGeom prst="rect">
              <a:avLst/>
            </a:prstGeom>
            <a:noFill/>
          </p:spPr>
          <p:txBody>
            <a:bodyPr wrap="square" rtlCol="0">
              <a:spAutoFit/>
            </a:bodyPr>
            <a:lstStyle/>
            <a:p>
              <a:r>
                <a:rPr lang="en-US" sz="2000" b="1" dirty="0"/>
                <a:t>220701068</a:t>
              </a:r>
            </a:p>
            <a:p>
              <a:r>
                <a:rPr lang="en-US" sz="2000" b="1" dirty="0"/>
                <a:t>Divya Sundhari S M</a:t>
              </a:r>
            </a:p>
            <a:p>
              <a:r>
                <a:rPr lang="en-US" sz="2000" b="1" dirty="0"/>
                <a:t>BE CSE B</a:t>
              </a:r>
            </a:p>
            <a:p>
              <a:r>
                <a:rPr lang="en-US" sz="2000" b="1" dirty="0"/>
                <a:t>Mrs. Jinu Sophia</a:t>
              </a:r>
            </a:p>
            <a:p>
              <a:r>
                <a:rPr lang="en-US" sz="2000" b="1" dirty="0"/>
                <a:t>Assistant Professor (SG)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364088" y="1761199"/>
                <a:ext cx="3779912"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6324600"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16817" y="2006681"/>
                <a:ext cx="5571308" cy="2123658"/>
              </a:xfrm>
              <a:prstGeom prst="rect">
                <a:avLst/>
              </a:prstGeom>
              <a:noFill/>
            </p:spPr>
            <p:txBody>
              <a:bodyPr wrap="square" rtlCol="0">
                <a:spAutoFit/>
              </a:bodyPr>
              <a:lstStyle/>
              <a:p>
                <a:r>
                  <a:rPr lang="en-US" sz="4400" b="1" dirty="0">
                    <a:solidFill>
                      <a:schemeClr val="bg1"/>
                    </a:solidFill>
                    <a:ea typeface="Open Sans Bold" panose="020B0806030504020204" pitchFamily="34" charset="0"/>
                    <a:cs typeface="Open Sans Bold" panose="020B0806030504020204" pitchFamily="34" charset="0"/>
                  </a:rPr>
                  <a:t>Expense Reimbursement Automation</a:t>
                </a:r>
              </a:p>
            </p:txBody>
          </p:sp>
          <p:sp>
            <p:nvSpPr>
              <p:cNvPr id="50" name="Freeform 49"/>
              <p:cNvSpPr/>
              <p:nvPr/>
            </p:nvSpPr>
            <p:spPr>
              <a:xfrm>
                <a:off x="5023873"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dirty="0"/>
              <a:t>Expense reimbursement automation project aims to develop an automated expense reimbursement system using UiPath, enabling seamless handling of receipts, saving the receipts information, and reviewing it by the manager, and notifying the employee about the completion of transaction by the Finance department. </a:t>
            </a:r>
          </a:p>
          <a:p>
            <a:pPr algn="just"/>
            <a:r>
              <a:rPr lang="en-US" dirty="0"/>
              <a:t>UiPath ensures employees receive timely notifications about the status of their reimbursements. By leveraging robotic process automation (RPA) through UiPath, this project ensures transparency, accuracy, and efficiency across all stages of expense management.</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5" name="Rectangle 2">
            <a:extLst>
              <a:ext uri="{FF2B5EF4-FFF2-40B4-BE49-F238E27FC236}">
                <a16:creationId xmlns:a16="http://schemas.microsoft.com/office/drawing/2014/main" id="{11F5E0BD-399E-037A-0EB5-1877D6EA4BCB}"/>
              </a:ext>
            </a:extLst>
          </p:cNvPr>
          <p:cNvSpPr>
            <a:spLocks noGrp="1" noChangeArrowheads="1"/>
          </p:cNvSpPr>
          <p:nvPr>
            <p:ph idx="1"/>
          </p:nvPr>
        </p:nvSpPr>
        <p:spPr bwMode="auto">
          <a:xfrm>
            <a:off x="190500" y="1085621"/>
            <a:ext cx="8197924"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Delays in Processing</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Manual handling of expense reimbursements often leads to significant delays. Employees must wait for their receipts to be reviewed and approved, and this process can take days or even weeks, causing frustration and dissatisfaction.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Mismanagement of Receipts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Physical or digital receipts are prone to being misplaced or mishandled during manual processing. This mismanagement can result in incomplete records, which further delays the reimbursement process and may even lead to disputes.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D73FA043-9BE0-53E4-DEA2-38350628C762}"/>
              </a:ext>
            </a:extLst>
          </p:cNvPr>
          <p:cNvSpPr>
            <a:spLocks noChangeArrowheads="1"/>
          </p:cNvSpPr>
          <p:nvPr/>
        </p:nvSpPr>
        <p:spPr bwMode="auto">
          <a:xfrm rot="10800000" flipV="1">
            <a:off x="190500" y="3248980"/>
            <a:ext cx="869363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Risk of Human Error</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Manual data entry and calculations are susceptible to errors, such as incorrect amounts or duplicate entries. These errors can cause financial discrepancies and impact the organization’s financial records.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Employee Dissatisfaction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 inefficiency and lack of transparency in manual processes can lead to employee frustration. Delayed reimbursements and unclear communication erode trust and morale, impacting overall employee satisfaction.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Scalability Challenges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As organizations grow, the volume of expense claims increases, making manual processes unmanageable and prone to bottlenecks.</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fontScale="77500" lnSpcReduction="20000"/>
          </a:bodyPr>
          <a:lstStyle/>
          <a:p>
            <a:pPr algn="just"/>
            <a:r>
              <a:rPr lang="en-US" dirty="0"/>
              <a:t>The proposed automated system addresses these issues by:</a:t>
            </a:r>
          </a:p>
          <a:p>
            <a:pPr algn="just">
              <a:buFont typeface="+mj-lt"/>
              <a:buAutoNum type="arabicPeriod"/>
            </a:pPr>
            <a:r>
              <a:rPr lang="en-US" b="1" dirty="0"/>
              <a:t>Minimizing Manual Effort</a:t>
            </a:r>
            <a:r>
              <a:rPr lang="en-US" dirty="0"/>
              <a:t>: Automating data extraction from receipts and updating a centralized Excel sheet reduces the time and effort required for manual data entry.</a:t>
            </a:r>
          </a:p>
          <a:p>
            <a:pPr algn="just">
              <a:buFont typeface="+mj-lt"/>
              <a:buAutoNum type="arabicPeriod"/>
            </a:pPr>
            <a:r>
              <a:rPr lang="en-US" b="1" dirty="0"/>
              <a:t>Improving Accuracy</a:t>
            </a:r>
            <a:r>
              <a:rPr lang="en-US" dirty="0"/>
              <a:t>: Automation eliminates human errors in data processing, ensuring accurate and consistent record-keeping.</a:t>
            </a:r>
          </a:p>
          <a:p>
            <a:pPr algn="just">
              <a:buFont typeface="+mj-lt"/>
              <a:buAutoNum type="arabicPeriod"/>
            </a:pPr>
            <a:r>
              <a:rPr lang="en-US" b="1" dirty="0"/>
              <a:t>Streamlining Communication</a:t>
            </a:r>
            <a:r>
              <a:rPr lang="en-US" dirty="0"/>
              <a:t>: Automated notifications ensure timely updates to managers, finance teams, and employees, reducing communication gaps and enabling a smooth workflow.</a:t>
            </a:r>
          </a:p>
          <a:p>
            <a:pPr algn="just">
              <a:buFont typeface="+mj-lt"/>
              <a:buAutoNum type="arabicPeriod"/>
            </a:pPr>
            <a:r>
              <a:rPr lang="en-US" b="1" dirty="0"/>
              <a:t>Enhancing Transparency</a:t>
            </a:r>
            <a:r>
              <a:rPr lang="en-US" dirty="0"/>
              <a:t>: The centralized Excel sheet, accessible to all stakeholders, provides a clear view of each receipt's status, from submission to reimbursement.</a:t>
            </a:r>
          </a:p>
          <a:p>
            <a:pPr algn="just">
              <a:buFont typeface="+mj-lt"/>
              <a:buAutoNum type="arabicPeriod"/>
            </a:pPr>
            <a:r>
              <a:rPr lang="en-US" b="1" dirty="0"/>
              <a:t>Increasing Speed</a:t>
            </a:r>
            <a:r>
              <a:rPr lang="en-US" dirty="0"/>
              <a:t>: By automating key steps like data extraction, notifications, and status updates, the process is significantly faster compared to manual workflows.</a:t>
            </a:r>
          </a:p>
          <a:p>
            <a:pPr algn="just">
              <a:buFont typeface="+mj-lt"/>
              <a:buAutoNum type="arabicPeriod"/>
            </a:pPr>
            <a:r>
              <a:rPr lang="en-US" b="1" dirty="0"/>
              <a:t>Scalability</a:t>
            </a:r>
            <a:r>
              <a:rPr lang="en-US" dirty="0"/>
              <a:t>: The system can handle a high volume of receipts efficiently, making it suitable for organizations of varying sizes.</a:t>
            </a:r>
          </a:p>
          <a:p>
            <a:pPr algn="just">
              <a:buFont typeface="+mj-lt"/>
              <a:buAutoNum type="arabicPeriod"/>
            </a:pPr>
            <a:r>
              <a:rPr lang="en-US" b="1" dirty="0"/>
              <a:t>Employee Satisfaction</a:t>
            </a:r>
            <a:r>
              <a:rPr lang="en-US" dirty="0"/>
              <a:t>: Quick and transparent reimbursement processing fosters trust and improves employee morale.</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dirty="0"/>
              <a:t>The main objective of the expense reimbursement process is to efficiently and accurately reimburse employees for legitimate business-related expenses incurred during their job duties, while ensuring compliance with company policies and budgetary constraints. </a:t>
            </a:r>
          </a:p>
          <a:p>
            <a:pPr algn="just"/>
            <a:r>
              <a:rPr lang="en-US" dirty="0"/>
              <a:t>The process aims to streamline the submission, approval, and payment workflows, reduce administrative overhead, minimize errors, and enhance transparency in financial transactions. By automating and standardizing the process, organizations can achieve faster processing times, improve employee satisfaction, and maintain financial integrity through accurate record-keeping and compliance with tax and audit regulations.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7" name="Picture 6">
            <a:extLst>
              <a:ext uri="{FF2B5EF4-FFF2-40B4-BE49-F238E27FC236}">
                <a16:creationId xmlns:a16="http://schemas.microsoft.com/office/drawing/2014/main" id="{50CA23FE-664D-4CDC-220D-B417CA488F44}"/>
              </a:ext>
            </a:extLst>
          </p:cNvPr>
          <p:cNvPicPr>
            <a:picLocks noChangeAspect="1"/>
          </p:cNvPicPr>
          <p:nvPr/>
        </p:nvPicPr>
        <p:blipFill>
          <a:blip r:embed="rId4">
            <a:extLst>
              <a:ext uri="{28A0092B-C50C-407E-A947-70E740481C1C}">
                <a14:useLocalDpi xmlns:a14="http://schemas.microsoft.com/office/drawing/2010/main" val="0"/>
              </a:ext>
            </a:extLst>
          </a:blip>
          <a:srcRect l="9450" r="10227"/>
          <a:stretch/>
        </p:blipFill>
        <p:spPr>
          <a:xfrm>
            <a:off x="575556" y="929035"/>
            <a:ext cx="7812868" cy="5471272"/>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pPr algn="just"/>
            <a:r>
              <a:rPr lang="en-US" b="1" dirty="0"/>
              <a:t>Hardware Requirements</a:t>
            </a:r>
            <a:r>
              <a:rPr lang="en-US" dirty="0"/>
              <a:t>: A system with at least 4GB of RAM, a dual-core processor, and 2GB of available storage for running the UiPath Studio and associated applications.</a:t>
            </a:r>
            <a:br>
              <a:rPr lang="en-US" dirty="0"/>
            </a:br>
            <a:endParaRPr lang="en-US" dirty="0"/>
          </a:p>
          <a:p>
            <a:pPr algn="just"/>
            <a:r>
              <a:rPr lang="en-US" b="1" dirty="0"/>
              <a:t>Software Requirements</a:t>
            </a:r>
            <a:r>
              <a:rPr lang="en-US" dirty="0"/>
              <a:t>: UiPath Studio, Microsoft Excel, SMTP server configuration, and .NET Framework.</a:t>
            </a:r>
          </a:p>
          <a:p>
            <a:pPr algn="just"/>
            <a:endParaRPr lang="en-US" dirty="0"/>
          </a:p>
          <a:p>
            <a:pPr algn="just"/>
            <a:r>
              <a:rPr lang="en-US" b="1" dirty="0"/>
              <a:t>Other Requirements</a:t>
            </a:r>
            <a:r>
              <a:rPr lang="en-US" dirty="0"/>
              <a:t>: An active internet connection for email and cloud-based integrations, and the necessary access rights to the Excel file and email accounts.</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fontScale="77500" lnSpcReduction="20000"/>
          </a:bodyPr>
          <a:lstStyle/>
          <a:p>
            <a:pPr algn="just"/>
            <a:r>
              <a:rPr lang="en-US" b="1" dirty="0"/>
              <a:t>Employee </a:t>
            </a:r>
            <a:r>
              <a:rPr lang="en-US" b="1" dirty="0" err="1"/>
              <a:t>wokflow</a:t>
            </a:r>
            <a:r>
              <a:rPr lang="en-US" b="1" dirty="0"/>
              <a:t>:</a:t>
            </a:r>
          </a:p>
          <a:p>
            <a:pPr algn="just"/>
            <a:r>
              <a:rPr lang="en-US" dirty="0"/>
              <a:t>The workflow starts by using the </a:t>
            </a:r>
            <a:r>
              <a:rPr lang="en-US" b="1" dirty="0"/>
              <a:t>Read PDF Text</a:t>
            </a:r>
            <a:r>
              <a:rPr lang="en-US" dirty="0"/>
              <a:t> activity to extract text from the PDF document containing the expense report. </a:t>
            </a:r>
          </a:p>
          <a:p>
            <a:pPr algn="just"/>
            <a:r>
              <a:rPr lang="en-US" dirty="0"/>
              <a:t>Regular expressions are then applied with the </a:t>
            </a:r>
            <a:r>
              <a:rPr lang="en-US" b="1" dirty="0"/>
              <a:t>Matches</a:t>
            </a:r>
            <a:r>
              <a:rPr lang="en-US" dirty="0"/>
              <a:t> activity to find specific patterns like dates and totals. </a:t>
            </a:r>
          </a:p>
          <a:p>
            <a:pPr algn="just"/>
            <a:r>
              <a:rPr lang="en-US" dirty="0"/>
              <a:t>The total reimbursement value is extracted by locating the "Total :" keyword and using </a:t>
            </a:r>
            <a:r>
              <a:rPr lang="en-US" b="1" dirty="0" err="1"/>
              <a:t>IndexOf</a:t>
            </a:r>
            <a:r>
              <a:rPr lang="en-US" dirty="0"/>
              <a:t> and </a:t>
            </a:r>
            <a:r>
              <a:rPr lang="en-US" b="1" dirty="0"/>
              <a:t>Substring</a:t>
            </a:r>
            <a:r>
              <a:rPr lang="en-US" dirty="0"/>
              <a:t> methods to capture the amount.</a:t>
            </a:r>
          </a:p>
          <a:p>
            <a:pPr algn="just"/>
            <a:r>
              <a:rPr lang="en-US" dirty="0"/>
              <a:t> An </a:t>
            </a:r>
            <a:r>
              <a:rPr lang="en-US" b="1" dirty="0"/>
              <a:t>Input Dialog</a:t>
            </a:r>
            <a:r>
              <a:rPr lang="en-US" dirty="0"/>
              <a:t> activity prompts the user to enter additional details, such as the employee's name.</a:t>
            </a:r>
          </a:p>
          <a:p>
            <a:pPr algn="just"/>
            <a:r>
              <a:rPr lang="en-US" dirty="0"/>
              <a:t> The </a:t>
            </a:r>
            <a:r>
              <a:rPr lang="en-US" b="1" dirty="0"/>
              <a:t>Build </a:t>
            </a:r>
            <a:r>
              <a:rPr lang="en-US" b="1" dirty="0" err="1"/>
              <a:t>DataTable</a:t>
            </a:r>
            <a:r>
              <a:rPr lang="en-US" dirty="0"/>
              <a:t> activity creates a structured table to store the extracted data, and the </a:t>
            </a:r>
            <a:r>
              <a:rPr lang="en-US" b="1" dirty="0"/>
              <a:t>Add Data Row</a:t>
            </a:r>
            <a:r>
              <a:rPr lang="en-US" dirty="0"/>
              <a:t> activity adds a new row with this information. </a:t>
            </a:r>
          </a:p>
          <a:p>
            <a:pPr algn="just"/>
            <a:r>
              <a:rPr lang="en-US" dirty="0"/>
              <a:t>The </a:t>
            </a:r>
            <a:r>
              <a:rPr lang="en-US" b="1" dirty="0"/>
              <a:t>Excel Application Scope</a:t>
            </a:r>
            <a:r>
              <a:rPr lang="en-US" dirty="0"/>
              <a:t> activity opens or creates an Excel file, and the </a:t>
            </a:r>
            <a:r>
              <a:rPr lang="en-US" b="1" dirty="0"/>
              <a:t>Append Range</a:t>
            </a:r>
            <a:r>
              <a:rPr lang="en-US" dirty="0"/>
              <a:t> activity appends the data to the file.</a:t>
            </a:r>
          </a:p>
          <a:p>
            <a:pPr algn="just"/>
            <a:r>
              <a:rPr lang="en-US" dirty="0"/>
              <a:t>Finally, the </a:t>
            </a:r>
            <a:r>
              <a:rPr lang="en-US" b="1" dirty="0"/>
              <a:t>Send SMTP Mail Message</a:t>
            </a:r>
            <a:r>
              <a:rPr lang="en-US" dirty="0"/>
              <a:t> activity sends an email notification with the relevant reimbursement details to the employee. This automated process efficiently handles the expense reimbursement workflow from data extraction to communication.</a:t>
            </a:r>
          </a:p>
          <a:p>
            <a:pPr marL="0" indent="0" algn="just">
              <a:buNone/>
            </a:pPr>
            <a:endParaRPr lang="en-US" dirty="0"/>
          </a:p>
          <a:p>
            <a:pPr algn="just"/>
            <a:endParaRPr lang="en-US" b="1" dirty="0"/>
          </a:p>
          <a:p>
            <a:pPr algn="just"/>
            <a:endParaRPr lang="en-US" dirty="0"/>
          </a:p>
          <a:p>
            <a:pPr algn="just"/>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3F9-5566-31FD-052B-F1CA7315A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45047-161E-DE0F-97DA-DB664844AC6B}"/>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a:extLst>
              <a:ext uri="{FF2B5EF4-FFF2-40B4-BE49-F238E27FC236}">
                <a16:creationId xmlns:a16="http://schemas.microsoft.com/office/drawing/2014/main" id="{D2EF04EF-FE73-1D66-6E8F-5C069CE5B0C8}"/>
              </a:ext>
            </a:extLst>
          </p:cNvPr>
          <p:cNvSpPr>
            <a:spLocks noGrp="1"/>
          </p:cNvSpPr>
          <p:nvPr>
            <p:ph idx="1"/>
          </p:nvPr>
        </p:nvSpPr>
        <p:spPr/>
        <p:txBody>
          <a:bodyPr>
            <a:normAutofit fontScale="77500" lnSpcReduction="20000"/>
          </a:bodyPr>
          <a:lstStyle/>
          <a:p>
            <a:pPr algn="just"/>
            <a:r>
              <a:rPr lang="en-US" b="1" dirty="0"/>
              <a:t>MANAGER WORKFLOW:</a:t>
            </a:r>
          </a:p>
          <a:p>
            <a:pPr algn="just"/>
            <a:r>
              <a:rPr lang="en-US" dirty="0"/>
              <a:t>In the manager workflow, the process begins by using the </a:t>
            </a:r>
            <a:r>
              <a:rPr lang="en-US" b="1" dirty="0"/>
              <a:t>Excel Application Scope</a:t>
            </a:r>
            <a:r>
              <a:rPr lang="en-US" dirty="0"/>
              <a:t> activity to open an Excel file containing employee transaction details. Within the scope, the </a:t>
            </a:r>
            <a:r>
              <a:rPr lang="en-US" b="1" dirty="0"/>
              <a:t>Read Range</a:t>
            </a:r>
            <a:r>
              <a:rPr lang="en-US" dirty="0"/>
              <a:t> activity reads the entire data from the relevant sheet into a </a:t>
            </a:r>
            <a:r>
              <a:rPr lang="en-US" dirty="0" err="1"/>
              <a:t>DataTable</a:t>
            </a:r>
            <a:r>
              <a:rPr lang="en-US" dirty="0"/>
              <a:t> variable.</a:t>
            </a:r>
          </a:p>
          <a:p>
            <a:pPr algn="just"/>
            <a:r>
              <a:rPr lang="en-US" dirty="0"/>
              <a:t> The workflow then iterates through each row of the </a:t>
            </a:r>
            <a:r>
              <a:rPr lang="en-US" dirty="0" err="1"/>
              <a:t>DataTable</a:t>
            </a:r>
            <a:r>
              <a:rPr lang="en-US" dirty="0"/>
              <a:t> using the </a:t>
            </a:r>
            <a:r>
              <a:rPr lang="en-US" b="1" dirty="0"/>
              <a:t>For Each Row in </a:t>
            </a:r>
            <a:r>
              <a:rPr lang="en-US" b="1" dirty="0" err="1"/>
              <a:t>DataTable</a:t>
            </a:r>
            <a:r>
              <a:rPr lang="en-US" dirty="0"/>
              <a:t> activity. </a:t>
            </a:r>
          </a:p>
          <a:p>
            <a:pPr algn="just"/>
            <a:r>
              <a:rPr lang="en-US" dirty="0"/>
              <a:t>For each row, an </a:t>
            </a:r>
            <a:r>
              <a:rPr lang="en-US" b="1" dirty="0"/>
              <a:t>If</a:t>
            </a:r>
            <a:r>
              <a:rPr lang="en-US" dirty="0"/>
              <a:t> condition is applied to check if the "Review status" column equals "completed" and the "Transaction status" column equals "pending", both in lowercase and trimmed formats to ensure accurate comparison.</a:t>
            </a:r>
          </a:p>
          <a:p>
            <a:pPr algn="just"/>
            <a:r>
              <a:rPr lang="en-US" dirty="0"/>
              <a:t> If both conditions are met, the workflow can trigger specific actions in the </a:t>
            </a:r>
            <a:r>
              <a:rPr lang="en-US" b="1" dirty="0"/>
              <a:t>Then</a:t>
            </a:r>
            <a:r>
              <a:rPr lang="en-US" dirty="0"/>
              <a:t> block, such as notifying the manager or updating the status of the transaction, ensuring that pending transactions with completed reviews are appropriately flagged for further action.</a:t>
            </a:r>
          </a:p>
          <a:p>
            <a:pPr algn="just"/>
            <a:r>
              <a:rPr lang="en-US" dirty="0"/>
              <a:t>Finally, the </a:t>
            </a:r>
            <a:r>
              <a:rPr lang="en-US" b="1" dirty="0"/>
              <a:t>Send SMTP Mail Message</a:t>
            </a:r>
            <a:r>
              <a:rPr lang="en-US" dirty="0"/>
              <a:t> activity sends Finance department notification with the relevant reimbursement details. This automated process efficiently handles the expense reimbursement workflow from data extraction to communication.</a:t>
            </a:r>
          </a:p>
          <a:p>
            <a:pPr algn="just"/>
            <a:endParaRPr lang="en-US" dirty="0"/>
          </a:p>
          <a:p>
            <a:pPr marL="457200" lvl="1" indent="0" algn="just">
              <a:buNone/>
            </a:pPr>
            <a:endParaRPr lang="en-US" dirty="0"/>
          </a:p>
          <a:p>
            <a:pPr marL="0" indent="0" algn="just">
              <a:buNone/>
            </a:pPr>
            <a:endParaRPr lang="en-US" b="1" dirty="0"/>
          </a:p>
          <a:p>
            <a:pPr algn="just"/>
            <a:endParaRPr lang="en-US" b="1" dirty="0"/>
          </a:p>
          <a:p>
            <a:pPr algn="just"/>
            <a:endParaRPr lang="en-US" dirty="0"/>
          </a:p>
          <a:p>
            <a:pPr algn="just"/>
            <a:endParaRPr lang="en-US" dirty="0"/>
          </a:p>
        </p:txBody>
      </p:sp>
    </p:spTree>
    <p:custDataLst>
      <p:tags r:id="rId1"/>
    </p:custDataLst>
    <p:extLst>
      <p:ext uri="{BB962C8B-B14F-4D97-AF65-F5344CB8AC3E}">
        <p14:creationId xmlns:p14="http://schemas.microsoft.com/office/powerpoint/2010/main" val="1993156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C82A-6AD2-9277-8034-60CDB9359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4888E-2288-D87B-8D36-9CD3C8B881F8}"/>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6" name="Rectangle 3">
            <a:extLst>
              <a:ext uri="{FF2B5EF4-FFF2-40B4-BE49-F238E27FC236}">
                <a16:creationId xmlns:a16="http://schemas.microsoft.com/office/drawing/2014/main" id="{ABEB4DD4-DF65-C26C-A622-18CECE908769}"/>
              </a:ext>
            </a:extLst>
          </p:cNvPr>
          <p:cNvSpPr>
            <a:spLocks noGrp="1" noChangeArrowheads="1"/>
          </p:cNvSpPr>
          <p:nvPr>
            <p:ph idx="1"/>
          </p:nvPr>
        </p:nvSpPr>
        <p:spPr bwMode="auto">
          <a:xfrm>
            <a:off x="190500" y="1949440"/>
            <a:ext cx="855796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lang="en-US" altLang="en-US" sz="1800" dirty="0">
                <a:latin typeface="+mn-lt"/>
                <a:ea typeface="+mn-ea"/>
                <a:cs typeface="+mn-cs"/>
              </a:rPr>
              <a:t>The workflow begins by using the Excel Application Scope activity to open an Excel file containing employee transaction details.</a:t>
            </a:r>
          </a:p>
          <a:p>
            <a:pPr algn="just" eaLnBrk="0" fontAlgn="base" hangingPunct="0">
              <a:lnSpc>
                <a:spcPct val="100000"/>
              </a:lnSpc>
              <a:spcBef>
                <a:spcPct val="0"/>
              </a:spcBef>
              <a:spcAft>
                <a:spcPct val="0"/>
              </a:spcAft>
            </a:pPr>
            <a:r>
              <a:rPr lang="en-US" altLang="en-US" sz="1800" dirty="0">
                <a:latin typeface="+mn-lt"/>
                <a:ea typeface="+mn-ea"/>
                <a:cs typeface="+mn-cs"/>
              </a:rPr>
              <a:t> Inside the scope, the Read Range activity reads the data from the sheet into a Data Table .</a:t>
            </a:r>
          </a:p>
          <a:p>
            <a:pPr algn="just" eaLnBrk="0" fontAlgn="base" hangingPunct="0">
              <a:lnSpc>
                <a:spcPct val="100000"/>
              </a:lnSpc>
              <a:spcBef>
                <a:spcPct val="0"/>
              </a:spcBef>
              <a:spcAft>
                <a:spcPct val="0"/>
              </a:spcAft>
            </a:pPr>
            <a:r>
              <a:rPr lang="en-US" altLang="en-US" sz="1800" dirty="0">
                <a:latin typeface="+mn-lt"/>
                <a:ea typeface="+mn-ea"/>
                <a:cs typeface="+mn-cs"/>
              </a:rPr>
              <a:t>For Each Row in Data Table activity. For each row, an If condition checks whether the "Review status" column is "completed" and the "Transaction status" column is "pending" (both converted to lowercase and trimmed for accuracy). </a:t>
            </a:r>
          </a:p>
          <a:p>
            <a:pPr algn="just" eaLnBrk="0" fontAlgn="base" hangingPunct="0">
              <a:lnSpc>
                <a:spcPct val="100000"/>
              </a:lnSpc>
              <a:spcBef>
                <a:spcPct val="0"/>
              </a:spcBef>
              <a:spcAft>
                <a:spcPct val="0"/>
              </a:spcAft>
            </a:pPr>
            <a:r>
              <a:rPr lang="en-US" altLang="en-US" sz="1800" dirty="0">
                <a:latin typeface="+mn-lt"/>
                <a:ea typeface="+mn-ea"/>
                <a:cs typeface="+mn-cs"/>
              </a:rPr>
              <a:t>If both conditions are satisfied, the Send SMTP Mail Message activity sends an email to the employee, notifying them about the completion of their review and the pending status of their transaction. </a:t>
            </a:r>
          </a:p>
          <a:p>
            <a:pPr algn="just" eaLnBrk="0" fontAlgn="base" hangingPunct="0">
              <a:lnSpc>
                <a:spcPct val="100000"/>
              </a:lnSpc>
              <a:spcBef>
                <a:spcPct val="0"/>
              </a:spcBef>
              <a:spcAft>
                <a:spcPct val="0"/>
              </a:spcAft>
            </a:pPr>
            <a:r>
              <a:rPr lang="en-US" altLang="en-US" sz="1800" dirty="0">
                <a:latin typeface="+mn-lt"/>
                <a:ea typeface="+mn-ea"/>
                <a:cs typeface="+mn-cs"/>
              </a:rPr>
              <a:t>This ensures that employees are promptly informed about the status of their expense reimbursements.</a:t>
            </a:r>
          </a:p>
        </p:txBody>
      </p:sp>
      <p:sp>
        <p:nvSpPr>
          <p:cNvPr id="10" name="TextBox 9">
            <a:extLst>
              <a:ext uri="{FF2B5EF4-FFF2-40B4-BE49-F238E27FC236}">
                <a16:creationId xmlns:a16="http://schemas.microsoft.com/office/drawing/2014/main" id="{3A3B20A5-2B43-D63C-39C8-3356A1D127CE}"/>
              </a:ext>
            </a:extLst>
          </p:cNvPr>
          <p:cNvSpPr txBox="1"/>
          <p:nvPr/>
        </p:nvSpPr>
        <p:spPr>
          <a:xfrm>
            <a:off x="190500" y="1394142"/>
            <a:ext cx="4640826" cy="369332"/>
          </a:xfrm>
          <a:prstGeom prst="rect">
            <a:avLst/>
          </a:prstGeom>
          <a:noFill/>
        </p:spPr>
        <p:txBody>
          <a:bodyPr wrap="square">
            <a:spAutoFit/>
          </a:bodyPr>
          <a:lstStyle/>
          <a:p>
            <a:r>
              <a:rPr lang="en-US" b="1" dirty="0"/>
              <a:t>Finance department workflow:</a:t>
            </a:r>
          </a:p>
        </p:txBody>
      </p:sp>
    </p:spTree>
    <p:custDataLst>
      <p:tags r:id="rId1"/>
    </p:custDataLst>
    <p:extLst>
      <p:ext uri="{BB962C8B-B14F-4D97-AF65-F5344CB8AC3E}">
        <p14:creationId xmlns:p14="http://schemas.microsoft.com/office/powerpoint/2010/main" val="121326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mj-lt"/>
              </a:rPr>
              <a:t>ERD</a:t>
            </a:r>
            <a:endParaRPr lang="en-IN" dirty="0">
              <a:latin typeface="+mj-lt"/>
            </a:endParaRPr>
          </a:p>
        </p:txBody>
      </p:sp>
      <p:pic>
        <p:nvPicPr>
          <p:cNvPr id="4" name="Picture 3">
            <a:extLst>
              <a:ext uri="{FF2B5EF4-FFF2-40B4-BE49-F238E27FC236}">
                <a16:creationId xmlns:a16="http://schemas.microsoft.com/office/drawing/2014/main" id="{1BBA0F10-C81D-6860-8DDC-F5A168F9F4A4}"/>
              </a:ext>
            </a:extLst>
          </p:cNvPr>
          <p:cNvPicPr>
            <a:picLocks noChangeAspect="1"/>
          </p:cNvPicPr>
          <p:nvPr/>
        </p:nvPicPr>
        <p:blipFill>
          <a:blip r:embed="rId4">
            <a:extLst>
              <a:ext uri="{28A0092B-C50C-407E-A947-70E740481C1C}">
                <a14:useLocalDpi xmlns:a14="http://schemas.microsoft.com/office/drawing/2010/main" val="0"/>
              </a:ext>
            </a:extLst>
          </a:blip>
          <a:srcRect l="11418" t="22133" r="30702"/>
          <a:stretch/>
        </p:blipFill>
        <p:spPr>
          <a:xfrm>
            <a:off x="516161" y="926385"/>
            <a:ext cx="7872264" cy="5467946"/>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7019E-1AA9-4BCA-F2CB-B29485F1A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6344D-3B55-E7EC-1558-19305902F2EF}"/>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7B02E95E-75EE-FA3D-A494-F358FB275804}"/>
              </a:ext>
            </a:extLst>
          </p:cNvPr>
          <p:cNvSpPr>
            <a:spLocks noGrp="1"/>
          </p:cNvSpPr>
          <p:nvPr>
            <p:ph idx="1"/>
          </p:nvPr>
        </p:nvSpPr>
        <p:spPr/>
        <p:txBody>
          <a:bodyPr/>
          <a:lstStyle/>
          <a:p>
            <a:r>
              <a:rPr lang="en-US" dirty="0"/>
              <a:t>Implementation of workflow 1</a:t>
            </a:r>
          </a:p>
          <a:p>
            <a:endParaRPr lang="en-US" dirty="0"/>
          </a:p>
        </p:txBody>
      </p:sp>
      <p:pic>
        <p:nvPicPr>
          <p:cNvPr id="10" name="Picture 9">
            <a:extLst>
              <a:ext uri="{FF2B5EF4-FFF2-40B4-BE49-F238E27FC236}">
                <a16:creationId xmlns:a16="http://schemas.microsoft.com/office/drawing/2014/main" id="{5BE83667-E226-D53A-E32E-CBFDDAB1C998}"/>
              </a:ext>
            </a:extLst>
          </p:cNvPr>
          <p:cNvPicPr>
            <a:picLocks noChangeAspect="1"/>
          </p:cNvPicPr>
          <p:nvPr/>
        </p:nvPicPr>
        <p:blipFill>
          <a:blip r:embed="rId4"/>
          <a:stretch>
            <a:fillRect/>
          </a:stretch>
        </p:blipFill>
        <p:spPr>
          <a:xfrm>
            <a:off x="719572" y="1808820"/>
            <a:ext cx="3105583" cy="4163006"/>
          </a:xfrm>
          <a:prstGeom prst="rect">
            <a:avLst/>
          </a:prstGeom>
        </p:spPr>
      </p:pic>
      <p:pic>
        <p:nvPicPr>
          <p:cNvPr id="12" name="Picture 11">
            <a:extLst>
              <a:ext uri="{FF2B5EF4-FFF2-40B4-BE49-F238E27FC236}">
                <a16:creationId xmlns:a16="http://schemas.microsoft.com/office/drawing/2014/main" id="{BC1C96BD-953A-4468-1BC5-2C281349DB1A}"/>
              </a:ext>
            </a:extLst>
          </p:cNvPr>
          <p:cNvPicPr>
            <a:picLocks noChangeAspect="1"/>
          </p:cNvPicPr>
          <p:nvPr/>
        </p:nvPicPr>
        <p:blipFill>
          <a:blip r:embed="rId5"/>
          <a:stretch>
            <a:fillRect/>
          </a:stretch>
        </p:blipFill>
        <p:spPr>
          <a:xfrm>
            <a:off x="4371463" y="361041"/>
            <a:ext cx="3310752" cy="5963283"/>
          </a:xfrm>
          <a:prstGeom prst="rect">
            <a:avLst/>
          </a:prstGeom>
        </p:spPr>
      </p:pic>
    </p:spTree>
    <p:custDataLst>
      <p:tags r:id="rId1"/>
    </p:custDataLst>
    <p:extLst>
      <p:ext uri="{BB962C8B-B14F-4D97-AF65-F5344CB8AC3E}">
        <p14:creationId xmlns:p14="http://schemas.microsoft.com/office/powerpoint/2010/main" val="2040420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lstStyle/>
          <a:p>
            <a:r>
              <a:rPr lang="en-US" dirty="0"/>
              <a:t>Implementation of workflow 2</a:t>
            </a:r>
          </a:p>
          <a:p>
            <a:endParaRPr lang="en-US" dirty="0"/>
          </a:p>
        </p:txBody>
      </p:sp>
      <p:pic>
        <p:nvPicPr>
          <p:cNvPr id="5" name="Picture 4">
            <a:extLst>
              <a:ext uri="{FF2B5EF4-FFF2-40B4-BE49-F238E27FC236}">
                <a16:creationId xmlns:a16="http://schemas.microsoft.com/office/drawing/2014/main" id="{06EB257C-40E2-3258-8748-99DDE9116D44}"/>
              </a:ext>
            </a:extLst>
          </p:cNvPr>
          <p:cNvPicPr>
            <a:picLocks noChangeAspect="1"/>
          </p:cNvPicPr>
          <p:nvPr/>
        </p:nvPicPr>
        <p:blipFill>
          <a:blip r:embed="rId4"/>
          <a:stretch>
            <a:fillRect/>
          </a:stretch>
        </p:blipFill>
        <p:spPr>
          <a:xfrm>
            <a:off x="4427984" y="966862"/>
            <a:ext cx="3672408" cy="5329229"/>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2E49E-E834-4B71-01AA-E78790D69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08121-0305-63AF-178E-B5681BE4762A}"/>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5ADD37CD-CEC3-EA90-A788-CA1CB8FA7D24}"/>
              </a:ext>
            </a:extLst>
          </p:cNvPr>
          <p:cNvSpPr>
            <a:spLocks noGrp="1"/>
          </p:cNvSpPr>
          <p:nvPr>
            <p:ph idx="1"/>
          </p:nvPr>
        </p:nvSpPr>
        <p:spPr/>
        <p:txBody>
          <a:bodyPr/>
          <a:lstStyle/>
          <a:p>
            <a:r>
              <a:rPr lang="en-US" dirty="0"/>
              <a:t>Implementation of workflow 3</a:t>
            </a:r>
          </a:p>
          <a:p>
            <a:endParaRPr lang="en-US" dirty="0"/>
          </a:p>
        </p:txBody>
      </p:sp>
      <p:pic>
        <p:nvPicPr>
          <p:cNvPr id="6" name="Picture 5">
            <a:extLst>
              <a:ext uri="{FF2B5EF4-FFF2-40B4-BE49-F238E27FC236}">
                <a16:creationId xmlns:a16="http://schemas.microsoft.com/office/drawing/2014/main" id="{505E2B9E-A330-FD19-AC38-6027D884D451}"/>
              </a:ext>
            </a:extLst>
          </p:cNvPr>
          <p:cNvPicPr>
            <a:picLocks noChangeAspect="1"/>
          </p:cNvPicPr>
          <p:nvPr/>
        </p:nvPicPr>
        <p:blipFill>
          <a:blip r:embed="rId4"/>
          <a:stretch>
            <a:fillRect/>
          </a:stretch>
        </p:blipFill>
        <p:spPr>
          <a:xfrm>
            <a:off x="4463988" y="1113343"/>
            <a:ext cx="3921769" cy="5088514"/>
          </a:xfrm>
          <a:prstGeom prst="rect">
            <a:avLst/>
          </a:prstGeom>
        </p:spPr>
      </p:pic>
    </p:spTree>
    <p:custDataLst>
      <p:tags r:id="rId1"/>
    </p:custDataLst>
    <p:extLst>
      <p:ext uri="{BB962C8B-B14F-4D97-AF65-F5344CB8AC3E}">
        <p14:creationId xmlns:p14="http://schemas.microsoft.com/office/powerpoint/2010/main" val="2355285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618E-A2E2-3F62-EC82-99951010B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85376-DAF8-6938-D53F-98E6AAC599F4}"/>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C3C0BC62-20D9-5CD6-43E8-840A1E70EA0C}"/>
              </a:ext>
            </a:extLst>
          </p:cNvPr>
          <p:cNvSpPr>
            <a:spLocks noGrp="1"/>
          </p:cNvSpPr>
          <p:nvPr>
            <p:ph idx="1"/>
          </p:nvPr>
        </p:nvSpPr>
        <p:spPr/>
        <p:txBody>
          <a:bodyPr/>
          <a:lstStyle/>
          <a:p>
            <a:r>
              <a:rPr lang="en-US" dirty="0"/>
              <a:t>Implementation of workflow 4</a:t>
            </a:r>
          </a:p>
          <a:p>
            <a:endParaRPr lang="en-US" dirty="0"/>
          </a:p>
        </p:txBody>
      </p:sp>
      <p:pic>
        <p:nvPicPr>
          <p:cNvPr id="5" name="Picture 4">
            <a:extLst>
              <a:ext uri="{FF2B5EF4-FFF2-40B4-BE49-F238E27FC236}">
                <a16:creationId xmlns:a16="http://schemas.microsoft.com/office/drawing/2014/main" id="{43EDBB53-8F3A-7D03-747F-3EEAB1C4B0B8}"/>
              </a:ext>
            </a:extLst>
          </p:cNvPr>
          <p:cNvPicPr>
            <a:picLocks noChangeAspect="1"/>
          </p:cNvPicPr>
          <p:nvPr/>
        </p:nvPicPr>
        <p:blipFill>
          <a:blip r:embed="rId4"/>
          <a:stretch>
            <a:fillRect/>
          </a:stretch>
        </p:blipFill>
        <p:spPr>
          <a:xfrm>
            <a:off x="229354" y="1484784"/>
            <a:ext cx="4383892" cy="4839816"/>
          </a:xfrm>
          <a:prstGeom prst="rect">
            <a:avLst/>
          </a:prstGeom>
        </p:spPr>
      </p:pic>
      <p:pic>
        <p:nvPicPr>
          <p:cNvPr id="8" name="Picture 7">
            <a:extLst>
              <a:ext uri="{FF2B5EF4-FFF2-40B4-BE49-F238E27FC236}">
                <a16:creationId xmlns:a16="http://schemas.microsoft.com/office/drawing/2014/main" id="{4E0005BC-A904-2E7F-03B5-C262DCDF08D5}"/>
              </a:ext>
            </a:extLst>
          </p:cNvPr>
          <p:cNvPicPr>
            <a:picLocks noChangeAspect="1"/>
          </p:cNvPicPr>
          <p:nvPr/>
        </p:nvPicPr>
        <p:blipFill>
          <a:blip r:embed="rId5"/>
          <a:stretch>
            <a:fillRect/>
          </a:stretch>
        </p:blipFill>
        <p:spPr>
          <a:xfrm>
            <a:off x="4572000" y="1480144"/>
            <a:ext cx="4420354" cy="4989150"/>
          </a:xfrm>
          <a:prstGeom prst="rect">
            <a:avLst/>
          </a:prstGeom>
        </p:spPr>
      </p:pic>
    </p:spTree>
    <p:custDataLst>
      <p:tags r:id="rId1"/>
    </p:custDataLst>
    <p:extLst>
      <p:ext uri="{BB962C8B-B14F-4D97-AF65-F5344CB8AC3E}">
        <p14:creationId xmlns:p14="http://schemas.microsoft.com/office/powerpoint/2010/main" val="3770863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98F991-BA49-F59E-1B9B-1DA52536DA30}"/>
              </a:ext>
            </a:extLst>
          </p:cNvPr>
          <p:cNvPicPr>
            <a:picLocks noGrp="1" noChangeAspect="1"/>
          </p:cNvPicPr>
          <p:nvPr>
            <p:ph idx="1"/>
          </p:nvPr>
        </p:nvPicPr>
        <p:blipFill>
          <a:blip r:embed="rId2"/>
          <a:stretch>
            <a:fillRect/>
          </a:stretch>
        </p:blipFill>
        <p:spPr>
          <a:xfrm>
            <a:off x="190500" y="1695529"/>
            <a:ext cx="8763000" cy="3924141"/>
          </a:xfrm>
        </p:spPr>
      </p:pic>
      <p:sp>
        <p:nvSpPr>
          <p:cNvPr id="6" name="TextBox 5">
            <a:extLst>
              <a:ext uri="{FF2B5EF4-FFF2-40B4-BE49-F238E27FC236}">
                <a16:creationId xmlns:a16="http://schemas.microsoft.com/office/drawing/2014/main" id="{A95D6B05-2837-A9E1-0027-AEA06B64664F}"/>
              </a:ext>
            </a:extLst>
          </p:cNvPr>
          <p:cNvSpPr txBox="1"/>
          <p:nvPr/>
        </p:nvSpPr>
        <p:spPr>
          <a:xfrm>
            <a:off x="395536" y="404664"/>
            <a:ext cx="4364528" cy="523220"/>
          </a:xfrm>
          <a:prstGeom prst="rect">
            <a:avLst/>
          </a:prstGeom>
          <a:noFill/>
        </p:spPr>
        <p:txBody>
          <a:bodyPr wrap="none" rtlCol="0">
            <a:spAutoFit/>
          </a:bodyPr>
          <a:lstStyle/>
          <a:p>
            <a:r>
              <a:rPr lang="en-IN" sz="2800" dirty="0"/>
              <a:t>Orchestrator trigger creation</a:t>
            </a:r>
          </a:p>
        </p:txBody>
      </p:sp>
    </p:spTree>
    <p:extLst>
      <p:ext uri="{BB962C8B-B14F-4D97-AF65-F5344CB8AC3E}">
        <p14:creationId xmlns:p14="http://schemas.microsoft.com/office/powerpoint/2010/main" val="2359000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4A2CAB-DD32-789E-132C-18C76422F232}"/>
              </a:ext>
            </a:extLst>
          </p:cNvPr>
          <p:cNvPicPr>
            <a:picLocks noChangeAspect="1"/>
          </p:cNvPicPr>
          <p:nvPr/>
        </p:nvPicPr>
        <p:blipFill>
          <a:blip r:embed="rId2"/>
          <a:stretch>
            <a:fillRect/>
          </a:stretch>
        </p:blipFill>
        <p:spPr>
          <a:xfrm>
            <a:off x="0" y="1289323"/>
            <a:ext cx="9144000" cy="4279354"/>
          </a:xfrm>
          <a:prstGeom prst="rect">
            <a:avLst/>
          </a:prstGeom>
        </p:spPr>
      </p:pic>
    </p:spTree>
    <p:extLst>
      <p:ext uri="{BB962C8B-B14F-4D97-AF65-F5344CB8AC3E}">
        <p14:creationId xmlns:p14="http://schemas.microsoft.com/office/powerpoint/2010/main" val="3125758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78C1-D099-7AE2-34B3-230071A6A524}"/>
              </a:ext>
            </a:extLst>
          </p:cNvPr>
          <p:cNvSpPr>
            <a:spLocks noGrp="1"/>
          </p:cNvSpPr>
          <p:nvPr>
            <p:ph type="title"/>
          </p:nvPr>
        </p:nvSpPr>
        <p:spPr/>
        <p:txBody>
          <a:bodyPr/>
          <a:lstStyle/>
          <a:p>
            <a:r>
              <a:rPr lang="en-US" dirty="0"/>
              <a:t>Excel sheet</a:t>
            </a:r>
            <a:endParaRPr lang="en-IN" dirty="0"/>
          </a:p>
        </p:txBody>
      </p:sp>
      <p:pic>
        <p:nvPicPr>
          <p:cNvPr id="5" name="Picture 4">
            <a:extLst>
              <a:ext uri="{FF2B5EF4-FFF2-40B4-BE49-F238E27FC236}">
                <a16:creationId xmlns:a16="http://schemas.microsoft.com/office/drawing/2014/main" id="{A9FD1AC2-83E6-FF3E-6F18-047490CE079F}"/>
              </a:ext>
            </a:extLst>
          </p:cNvPr>
          <p:cNvPicPr>
            <a:picLocks noChangeAspect="1"/>
          </p:cNvPicPr>
          <p:nvPr/>
        </p:nvPicPr>
        <p:blipFill>
          <a:blip r:embed="rId2"/>
          <a:stretch>
            <a:fillRect/>
          </a:stretch>
        </p:blipFill>
        <p:spPr>
          <a:xfrm>
            <a:off x="0" y="1808820"/>
            <a:ext cx="9144000" cy="2502569"/>
          </a:xfrm>
          <a:prstGeom prst="rect">
            <a:avLst/>
          </a:prstGeom>
        </p:spPr>
      </p:pic>
    </p:spTree>
    <p:extLst>
      <p:ext uri="{BB962C8B-B14F-4D97-AF65-F5344CB8AC3E}">
        <p14:creationId xmlns:p14="http://schemas.microsoft.com/office/powerpoint/2010/main" val="2421420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algn="just"/>
            <a:r>
              <a:rPr lang="en-US" dirty="0"/>
              <a:t>In conclusion, this automated workflow effectively streamlines the expense reimbursement process by leveraging UiPath's capabilities to extract and process data from PDF documents, validate status conditions, and notify employees about the status of their reimbursement requests. By integrating Excel for data storage and SMTP for communication, the workflow ensures timely and accurate handling of expense submissions, minimizing manual effort and reducing the risk of errors. The automation not only improves efficiency but also enhances transparency and communication within the organization, allowing managers to focus on higher-priority tasks while ensuring employees are kept informed about the progress of their requests.</a:t>
            </a:r>
          </a:p>
          <a:p>
            <a:pPr algn="just"/>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r>
              <a:rPr lang="en-US" dirty="0"/>
              <a:t>Adding advanced conditions using Regex to extract more detailed and diverse data from various types of expense receipts, enabling greater flexibility in processing multiple formats.</a:t>
            </a:r>
          </a:p>
          <a:p>
            <a:pPr algn="just"/>
            <a:r>
              <a:rPr lang="en-US" dirty="0"/>
              <a:t>A feature can be implemented to allow employees to recheck or update their “Receipt info" if needed. In such cases, the automation can trigger an email notification to the employee, prompting them to verify or correct the details by manager. </a:t>
            </a:r>
          </a:p>
          <a:p>
            <a:pPr algn="just"/>
            <a:r>
              <a:rPr lang="en-US" dirty="0"/>
              <a:t>Adding advanced reporting and analytics features could also help managers gain insights into spending trends and identify potential cost-saving opportunities. Furthermore, implementing more robust error handling and notifications could improve the workflow’s resilience, ensuring smooth operation even in the case of unexpected issues or missing data.</a:t>
            </a:r>
          </a:p>
          <a:p>
            <a:pPr algn="just"/>
            <a:endParaRPr lang="en-US" dirty="0"/>
          </a:p>
          <a:p>
            <a:pPr algn="just"/>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r>
              <a:rPr lang="en-US" dirty="0">
                <a:hlinkClick r:id="rId4"/>
              </a:rPr>
              <a:t>https://sciendo.com/pdf/10.2478/picbe-2024-0275</a:t>
            </a:r>
            <a:endParaRPr lang="en-US" dirty="0"/>
          </a:p>
          <a:p>
            <a:r>
              <a:rPr lang="en-US" dirty="0">
                <a:hlinkClick r:id="rId5"/>
              </a:rPr>
              <a:t>https://datafinity.co.za/wp-content/uploads/2021/02/RPA-for-HR_Creating-a-More-Human-Workplace.pdf</a:t>
            </a:r>
            <a:endParaRPr lang="en-US" dirty="0"/>
          </a:p>
          <a:p>
            <a:r>
              <a:rPr lang="en-US" dirty="0">
                <a:hlinkClick r:id="rId6"/>
              </a:rPr>
              <a:t>https://docs.uipath.com/</a:t>
            </a:r>
            <a:endParaRPr lang="en-US" dirty="0"/>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10250</TotalTime>
  <Words>1475</Words>
  <Application>Microsoft Office PowerPoint</Application>
  <PresentationFormat>On-screen Show (4:3)</PresentationFormat>
  <Paragraphs>107</Paragraphs>
  <Slides>22</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Main Objective</vt:lpstr>
      <vt:lpstr>Architecture</vt:lpstr>
      <vt:lpstr>System Requirements</vt:lpstr>
      <vt:lpstr>Functional Description</vt:lpstr>
      <vt:lpstr>Functional Description</vt:lpstr>
      <vt:lpstr>Functional Description</vt:lpstr>
      <vt:lpstr>ERD</vt:lpstr>
      <vt:lpstr>Implementation</vt:lpstr>
      <vt:lpstr>Implementation</vt:lpstr>
      <vt:lpstr>Implementation</vt:lpstr>
      <vt:lpstr>Implementation</vt:lpstr>
      <vt:lpstr>PowerPoint Presentation</vt:lpstr>
      <vt:lpstr>PowerPoint Presentation</vt:lpstr>
      <vt:lpstr>Excel sheet</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Divya Sundhari</cp:lastModifiedBy>
  <cp:revision>1746</cp:revision>
  <dcterms:created xsi:type="dcterms:W3CDTF">2013-05-17T03:00:03Z</dcterms:created>
  <dcterms:modified xsi:type="dcterms:W3CDTF">2024-11-22T06:10:35Z</dcterms:modified>
</cp:coreProperties>
</file>